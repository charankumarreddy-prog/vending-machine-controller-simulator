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30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6295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10668000" y="0"/>
            <a:ext cx="7620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0"/>
            <a:ext cx="3810000" cy="10287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143000" y="1714500"/>
            <a:ext cx="8572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ACADEMIC PROJECT PRESENTATION</a:t>
            </a:r>
            <a:endParaRPr lang="en-US" sz="1950" dirty="0"/>
          </a:p>
        </p:txBody>
      </p:sp>
      <p:sp>
        <p:nvSpPr>
          <p:cNvPr id="6" name="Text 1"/>
          <p:cNvSpPr/>
          <p:nvPr/>
        </p:nvSpPr>
        <p:spPr>
          <a:xfrm>
            <a:off x="1143000" y="2857500"/>
            <a:ext cx="10477500" cy="2333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Vending Machine Controller Simulator</a:t>
            </a:r>
            <a:endParaRPr lang="en-US" sz="9000" dirty="0"/>
          </a:p>
        </p:txBody>
      </p:sp>
      <p:sp>
        <p:nvSpPr>
          <p:cNvPr id="7" name="Text 2"/>
          <p:cNvSpPr/>
          <p:nvPr/>
        </p:nvSpPr>
        <p:spPr>
          <a:xfrm>
            <a:off x="1143000" y="7334250"/>
            <a:ext cx="8572500" cy="904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Charan — 2620090125</a:t>
            </a:r>
            <a:endParaRPr lang="en-US" sz="255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Dheeraj — 2620030472</a:t>
            </a:r>
            <a:endParaRPr lang="en-US" sz="2550" dirty="0"/>
          </a:p>
        </p:txBody>
      </p:sp>
      <p:sp>
        <p:nvSpPr>
          <p:cNvPr id="8" name="Text 3"/>
          <p:cNvSpPr/>
          <p:nvPr/>
        </p:nvSpPr>
        <p:spPr>
          <a:xfrm>
            <a:off x="1143000" y="8572500"/>
            <a:ext cx="8572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b="1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Faculty Guide: Gopi Krishna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71500"/>
            <a:ext cx="5715000" cy="2984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0" b="1" dirty="0">
                <a:solidFill>
                  <a:srgbClr val="22D3EE">
                    <a:alpha val="12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Text 1"/>
          <p:cNvSpPr/>
          <p:nvPr/>
        </p:nvSpPr>
        <p:spPr>
          <a:xfrm>
            <a:off x="1143000" y="1905000"/>
            <a:ext cx="7620000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Introduction</a:t>
            </a:r>
            <a:endParaRPr lang="en-US" sz="7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333750"/>
            <a:ext cx="1143000" cy="7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4000500"/>
            <a:ext cx="819150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software model of the logic that runs a real vending machine: coin input, product selection, dispensing and change return.</a:t>
            </a:r>
            <a:endParaRPr lang="en-US" sz="25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 Java to demonstrate finite state machine concepts in a hands-on way.</a:t>
            </a:r>
            <a:endParaRPr lang="en-US" sz="25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5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to embedded systems, automation and cashless retail, where reliable controller logic is critical.</a:t>
            </a:r>
            <a:endParaRPr lang="en-US" sz="2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1143000"/>
            <a:ext cx="6858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675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1333500"/>
            <a:ext cx="4762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— THE PROBLEM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952500" y="2095500"/>
            <a:ext cx="5143500" cy="1924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Statement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952500" y="7620000"/>
            <a:ext cx="49530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B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current machines frustrate users and operators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810500" y="1905000"/>
            <a:ext cx="9334500" cy="439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7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Hardware-bound logic is costly and hard to test before deployment.</a:t>
            </a:r>
            <a:endParaRPr lang="en-US" sz="27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7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Coins get stuck or incorrect change is returned.</a:t>
            </a:r>
            <a:endParaRPr lang="en-US" sz="27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7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handling of out-of-stock items and invalid inputs.</a:t>
            </a:r>
            <a:endParaRPr lang="en-US" sz="27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7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safe environment for students to study controller behaviour.</a:t>
            </a:r>
            <a:endParaRPr lang="en-US" sz="27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7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feedback and user-unfriendly interfaces.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1430000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Objectives</a:t>
            </a:r>
            <a:endParaRPr lang="en-US" sz="7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810000"/>
            <a:ext cx="7620000" cy="2476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3810000"/>
            <a:ext cx="7620000" cy="24765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858000"/>
            <a:ext cx="7620000" cy="24765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0" y="6858000"/>
            <a:ext cx="7620000" cy="24765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143000" y="2476500"/>
            <a:ext cx="13335000" cy="447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goals that shaped the simulator</a:t>
            </a:r>
            <a:endParaRPr lang="en-US" sz="2700" dirty="0"/>
          </a:p>
        </p:txBody>
      </p:sp>
      <p:sp>
        <p:nvSpPr>
          <p:cNvPr id="8" name="Text 2"/>
          <p:cNvSpPr/>
          <p:nvPr/>
        </p:nvSpPr>
        <p:spPr>
          <a:xfrm>
            <a:off x="1619250" y="4191000"/>
            <a:ext cx="1143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FFB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4500" dirty="0"/>
          </a:p>
        </p:txBody>
      </p:sp>
      <p:sp>
        <p:nvSpPr>
          <p:cNvPr id="9" name="Text 3"/>
          <p:cNvSpPr/>
          <p:nvPr/>
        </p:nvSpPr>
        <p:spPr>
          <a:xfrm>
            <a:off x="3048000" y="4191000"/>
            <a:ext cx="5334000" cy="904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vending logic as a clear finite state machine</a:t>
            </a:r>
            <a:endParaRPr lang="en-US" sz="2550" dirty="0"/>
          </a:p>
        </p:txBody>
      </p:sp>
      <p:sp>
        <p:nvSpPr>
          <p:cNvPr id="10" name="Text 4"/>
          <p:cNvSpPr/>
          <p:nvPr/>
        </p:nvSpPr>
        <p:spPr>
          <a:xfrm>
            <a:off x="10001250" y="4191000"/>
            <a:ext cx="1143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FFB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4500" dirty="0"/>
          </a:p>
        </p:txBody>
      </p:sp>
      <p:sp>
        <p:nvSpPr>
          <p:cNvPr id="11" name="Text 5"/>
          <p:cNvSpPr/>
          <p:nvPr/>
        </p:nvSpPr>
        <p:spPr>
          <a:xfrm>
            <a:off x="11430000" y="4191000"/>
            <a:ext cx="5334000" cy="904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coins, selection, dispensing and change accurately</a:t>
            </a:r>
            <a:endParaRPr lang="en-US" sz="2550" dirty="0"/>
          </a:p>
        </p:txBody>
      </p:sp>
      <p:sp>
        <p:nvSpPr>
          <p:cNvPr id="12" name="Text 6"/>
          <p:cNvSpPr/>
          <p:nvPr/>
        </p:nvSpPr>
        <p:spPr>
          <a:xfrm>
            <a:off x="1619250" y="7239000"/>
            <a:ext cx="1143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FFB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4500" dirty="0"/>
          </a:p>
        </p:txBody>
      </p:sp>
      <p:sp>
        <p:nvSpPr>
          <p:cNvPr id="13" name="Text 7"/>
          <p:cNvSpPr/>
          <p:nvPr/>
        </p:nvSpPr>
        <p:spPr>
          <a:xfrm>
            <a:off x="3048000" y="7239000"/>
            <a:ext cx="5334000" cy="904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an intuitive, interactive user interface</a:t>
            </a:r>
            <a:endParaRPr lang="en-US" sz="2550" dirty="0"/>
          </a:p>
        </p:txBody>
      </p:sp>
      <p:sp>
        <p:nvSpPr>
          <p:cNvPr id="14" name="Text 8"/>
          <p:cNvSpPr/>
          <p:nvPr/>
        </p:nvSpPr>
        <p:spPr>
          <a:xfrm>
            <a:off x="10001250" y="7239000"/>
            <a:ext cx="1143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0" b="1" dirty="0">
                <a:solidFill>
                  <a:srgbClr val="FFB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4500" dirty="0"/>
          </a:p>
        </p:txBody>
      </p:sp>
      <p:sp>
        <p:nvSpPr>
          <p:cNvPr id="15" name="Text 9"/>
          <p:cNvSpPr/>
          <p:nvPr/>
        </p:nvSpPr>
        <p:spPr>
          <a:xfrm>
            <a:off x="11430000" y="7239000"/>
            <a:ext cx="5334000" cy="904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safe testing without physical hardware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39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82000" y="1333500"/>
            <a:ext cx="8572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891B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— CURRENT STATE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8382000" y="1905000"/>
            <a:ext cx="8763000" cy="1009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0B1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Existing System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382000" y="3619500"/>
            <a:ext cx="8763000" cy="942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5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machines use microcontroller firmware or mechanical coin validators with fixed, hard-coded logic.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8382000" y="5810250"/>
            <a:ext cx="87630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LIMITATIONS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382000" y="6381750"/>
            <a:ext cx="8763000" cy="1943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5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 to modify or update</a:t>
            </a:r>
            <a:endParaRPr lang="en-US" sz="25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5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requires physical hardware</a:t>
            </a:r>
            <a:endParaRPr lang="en-US" sz="25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5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error and refund handling</a:t>
            </a:r>
            <a:endParaRPr lang="en-US" sz="255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5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visual insight into internal states</a:t>
            </a:r>
            <a:endParaRPr lang="en-US" sz="2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3335000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Proposed System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1143000" y="2476500"/>
            <a:ext cx="14287500" cy="962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Java-based, state-driven simulator that reproduces real controller behaviour in software.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381500"/>
            <a:ext cx="4953000" cy="4572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4381500"/>
            <a:ext cx="4953000" cy="4572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4381500"/>
            <a:ext cx="4953000" cy="4572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19250" y="4857750"/>
            <a:ext cx="400050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Flexible</a:t>
            </a:r>
            <a:endParaRPr lang="en-US" sz="3300" dirty="0"/>
          </a:p>
        </p:txBody>
      </p:sp>
      <p:sp>
        <p:nvSpPr>
          <p:cNvPr id="8" name="Text 3"/>
          <p:cNvSpPr/>
          <p:nvPr/>
        </p:nvSpPr>
        <p:spPr>
          <a:xfrm>
            <a:off x="1619250" y="5715000"/>
            <a:ext cx="4000500" cy="1323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Products, prices and rules are changed in code, no hardware rewiring needed.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7143750" y="4857750"/>
            <a:ext cx="400050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Reliable</a:t>
            </a:r>
            <a:endParaRPr lang="en-US" sz="3300" dirty="0"/>
          </a:p>
        </p:txBody>
      </p:sp>
      <p:sp>
        <p:nvSpPr>
          <p:cNvPr id="10" name="Text 5"/>
          <p:cNvSpPr/>
          <p:nvPr/>
        </p:nvSpPr>
        <p:spPr>
          <a:xfrm>
            <a:off x="7143750" y="5715000"/>
            <a:ext cx="4000500" cy="1323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every input, returns exact change and refunds on cancel.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12668250" y="4857750"/>
            <a:ext cx="4000500" cy="504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300" b="1" dirty="0">
                <a:solidFill>
                  <a:srgbClr val="0B1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Transparent</a:t>
            </a:r>
            <a:endParaRPr lang="en-US" sz="3300" dirty="0"/>
          </a:p>
        </p:txBody>
      </p:sp>
      <p:sp>
        <p:nvSpPr>
          <p:cNvPr id="12" name="Text 7"/>
          <p:cNvSpPr/>
          <p:nvPr/>
        </p:nvSpPr>
        <p:spPr>
          <a:xfrm>
            <a:off x="12668250" y="5715000"/>
            <a:ext cx="4000500" cy="1323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dirty="0">
                <a:solidFill>
                  <a:srgbClr val="0B10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current state and transactions live, ideal for learning and testing.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1009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Architecture</a:t>
            </a:r>
            <a:endParaRPr lang="en-US" sz="7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810000"/>
            <a:ext cx="3619500" cy="2095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0" y="3810000"/>
            <a:ext cx="3619500" cy="20955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0" y="3810000"/>
            <a:ext cx="3619500" cy="209550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4805363"/>
            <a:ext cx="2190750" cy="11430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4250" y="4805363"/>
            <a:ext cx="2190750" cy="11430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333500" y="4476750"/>
            <a:ext cx="3238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 Module</a:t>
            </a:r>
            <a:endParaRPr lang="en-US" sz="3000" dirty="0"/>
          </a:p>
        </p:txBody>
      </p:sp>
      <p:sp>
        <p:nvSpPr>
          <p:cNvPr id="9" name="Text 2"/>
          <p:cNvSpPr/>
          <p:nvPr/>
        </p:nvSpPr>
        <p:spPr>
          <a:xfrm>
            <a:off x="7524750" y="4476750"/>
            <a:ext cx="3238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B1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 Controller</a:t>
            </a:r>
            <a:endParaRPr lang="en-US" sz="3000" dirty="0"/>
          </a:p>
        </p:txBody>
      </p:sp>
      <p:sp>
        <p:nvSpPr>
          <p:cNvPr id="10" name="Text 3"/>
          <p:cNvSpPr/>
          <p:nvPr/>
        </p:nvSpPr>
        <p:spPr>
          <a:xfrm>
            <a:off x="13716000" y="4476750"/>
            <a:ext cx="32385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Module</a:t>
            </a:r>
            <a:endParaRPr lang="en-US" sz="3000" dirty="0"/>
          </a:p>
        </p:txBody>
      </p:sp>
      <p:sp>
        <p:nvSpPr>
          <p:cNvPr id="11" name="Text 4"/>
          <p:cNvSpPr/>
          <p:nvPr/>
        </p:nvSpPr>
        <p:spPr>
          <a:xfrm>
            <a:off x="1143000" y="6477000"/>
            <a:ext cx="3619500" cy="1247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Accepts coins and product selections from the user interface.</a:t>
            </a:r>
            <a:endParaRPr lang="en-US" sz="2250" dirty="0"/>
          </a:p>
        </p:txBody>
      </p:sp>
      <p:sp>
        <p:nvSpPr>
          <p:cNvPr id="12" name="Text 5"/>
          <p:cNvSpPr/>
          <p:nvPr/>
        </p:nvSpPr>
        <p:spPr>
          <a:xfrm>
            <a:off x="7334250" y="6477000"/>
            <a:ext cx="3619500" cy="1247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Finite state machine: Idle → Coin Inserted → Selected → Dispensing.</a:t>
            </a:r>
            <a:endParaRPr lang="en-US" sz="2250" dirty="0"/>
          </a:p>
        </p:txBody>
      </p:sp>
      <p:sp>
        <p:nvSpPr>
          <p:cNvPr id="13" name="Text 6"/>
          <p:cNvSpPr/>
          <p:nvPr/>
        </p:nvSpPr>
        <p:spPr>
          <a:xfrm>
            <a:off x="13525500" y="6477000"/>
            <a:ext cx="3619500" cy="1657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Dispenses product, returns change and updates inventory records.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3335000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0" b="1" dirty="0">
                <a:solidFill>
                  <a:srgbClr val="0B1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Functionalities</a:t>
            </a:r>
            <a:endParaRPr lang="en-US" sz="7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476500"/>
            <a:ext cx="1143000" cy="76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3238500"/>
            <a:ext cx="7810500" cy="3476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Coin insertion with value validation</a:t>
            </a:r>
            <a:endParaRPr lang="en-US" sz="28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selection with price check</a:t>
            </a:r>
            <a:endParaRPr lang="en-US" sz="28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product dispensing</a:t>
            </a:r>
            <a:endParaRPr lang="en-US" sz="28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change calculation</a:t>
            </a:r>
            <a:endParaRPr lang="en-US" sz="28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 and full refund option</a:t>
            </a:r>
            <a:endParaRPr lang="en-US" sz="285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tracking with out-of-stock alerts</a:t>
            </a:r>
            <a:endParaRPr lang="en-US" sz="2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1143000"/>
            <a:ext cx="7239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5240000" cy="923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— Java Code</a:t>
            </a:r>
            <a:endParaRPr lang="en-US" sz="6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BA20BE-C0D1-02FB-2DDB-6F8C4199AA69}"/>
              </a:ext>
            </a:extLst>
          </p:cNvPr>
          <p:cNvSpPr txBox="1"/>
          <p:nvPr/>
        </p:nvSpPr>
        <p:spPr>
          <a:xfrm>
            <a:off x="13843000" y="4533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6A3895F-6335-9439-2CB6-5E4A47FFA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2184400"/>
            <a:ext cx="6324599" cy="78233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A6C1E84-8834-67CD-13B7-B42D59E83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2266582"/>
            <a:ext cx="7518400" cy="75505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0900" y="333376"/>
            <a:ext cx="15240000" cy="923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600" b="1" dirty="0">
                <a:solidFill>
                  <a:srgbClr val="0B1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Screenshots</a:t>
            </a:r>
            <a:endParaRPr lang="en-US" sz="6600" dirty="0"/>
          </a:p>
        </p:txBody>
      </p:sp>
      <p:sp>
        <p:nvSpPr>
          <p:cNvPr id="5" name="Text 1"/>
          <p:cNvSpPr/>
          <p:nvPr/>
        </p:nvSpPr>
        <p:spPr>
          <a:xfrm>
            <a:off x="3746500" y="8572499"/>
            <a:ext cx="7810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0891B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INTERFACE — SELECTION &amp; PAYMENT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8712200" y="8572498"/>
            <a:ext cx="7810500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D9770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 LOG — DISPENSE &amp; CHANGE</a:t>
            </a:r>
            <a:endParaRPr lang="en-US" sz="19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9A6CA4-4BDD-F70C-01B6-2EF1292F6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1419225"/>
            <a:ext cx="9791700" cy="6403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3335000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Scope</a:t>
            </a:r>
            <a:endParaRPr lang="en-US" sz="7500" dirty="0"/>
          </a:p>
        </p:txBody>
      </p:sp>
      <p:sp>
        <p:nvSpPr>
          <p:cNvPr id="3" name="Text 1"/>
          <p:cNvSpPr/>
          <p:nvPr/>
        </p:nvSpPr>
        <p:spPr>
          <a:xfrm>
            <a:off x="1143000" y="3238500"/>
            <a:ext cx="9525000" cy="3238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3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UPI, card and NFC cashless payments</a:t>
            </a:r>
            <a:endParaRPr lang="en-US" sz="30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3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link for remote stock monitoring</a:t>
            </a:r>
            <a:endParaRPr lang="en-US" sz="30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3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for pre-ordering items</a:t>
            </a:r>
            <a:endParaRPr lang="en-US" sz="30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3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analytics and demand prediction</a:t>
            </a:r>
            <a:endParaRPr lang="en-US" sz="30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3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onto real microcontroller hardware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2001500" y="2476500"/>
            <a:ext cx="7239000" cy="7239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4191000"/>
            <a:ext cx="3810000" cy="3810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716000" y="5524500"/>
            <a:ext cx="3810000" cy="1009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200" b="1" dirty="0">
                <a:solidFill>
                  <a:srgbClr val="0B1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</a:t>
            </a:r>
            <a:endParaRPr lang="en-US" sz="7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286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1238250"/>
            <a:ext cx="13335000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0" b="1" dirty="0">
                <a:solidFill>
                  <a:srgbClr val="0B102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</a:t>
            </a:r>
            <a:endParaRPr lang="en-US" sz="7500" dirty="0"/>
          </a:p>
        </p:txBody>
      </p:sp>
      <p:sp>
        <p:nvSpPr>
          <p:cNvPr id="4" name="Text 1"/>
          <p:cNvSpPr/>
          <p:nvPr/>
        </p:nvSpPr>
        <p:spPr>
          <a:xfrm>
            <a:off x="1524000" y="3048000"/>
            <a:ext cx="14287500" cy="1190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0891B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built a working, state-driven vending machine controller in Java that is accurate, flexible and easy to understand.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524000" y="5715000"/>
            <a:ext cx="14287500" cy="1647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7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simulated coin handling, selection, dispensing and change.</a:t>
            </a:r>
            <a:endParaRPr lang="en-US" sz="27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7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finite state machine design in a real-world context.</a:t>
            </a:r>
            <a:endParaRPr lang="en-US" sz="27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7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low-cost platform for learning and testing controller logic.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143250"/>
            <a:ext cx="16002000" cy="2200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16500" dirty="0"/>
          </a:p>
        </p:txBody>
      </p:sp>
      <p:sp>
        <p:nvSpPr>
          <p:cNvPr id="4" name="Text 1"/>
          <p:cNvSpPr/>
          <p:nvPr/>
        </p:nvSpPr>
        <p:spPr>
          <a:xfrm>
            <a:off x="2476500" y="6572250"/>
            <a:ext cx="13335000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461</Words>
  <Application>Microsoft Office PowerPoint</Application>
  <PresentationFormat>Custom</PresentationFormat>
  <Paragraphs>88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0d0e62a4-20e8-4ab0-8b6a-3dc6bc2d41a1</dc:title>
  <dc:subject>Presentation Export</dc:subject>
  <dc:creator>Design Export</dc:creator>
  <cp:lastModifiedBy>narayani k</cp:lastModifiedBy>
  <cp:revision>2</cp:revision>
  <dcterms:created xsi:type="dcterms:W3CDTF">2026-09-30T17:35:13Z</dcterms:created>
  <dcterms:modified xsi:type="dcterms:W3CDTF">2026-09-30T18:06:25Z</dcterms:modified>
</cp:coreProperties>
</file>